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1b3328c75a450e" /><Relationship Type="http://schemas.openxmlformats.org/officeDocument/2006/relationships/extended-properties" Target="/docProps/app.xml" Id="R323446043f6e4848" /><Relationship Type="http://schemas.openxmlformats.org/officeDocument/2006/relationships/officeDocument" Target="/ppt/presentation.xml" Id="R8ab3956ff85c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730220cc004daf"/>
  </p:sldMasterIdLst>
  <p:notesMasterIdLst>
    <p:notesMasterId xmlns:r="http://schemas.openxmlformats.org/officeDocument/2006/relationships" r:id="R0a4df653bae344fa"/>
  </p:notesMasterIdLst>
  <p:sldIdLst>
    <p:sldId xmlns:r="http://schemas.openxmlformats.org/officeDocument/2006/relationships" id="256" r:id="Rb44365ad083d445f"/>
    <p:sldId xmlns:r="http://schemas.openxmlformats.org/officeDocument/2006/relationships" id="257" r:id="R6922a77885ee4fa6"/>
    <p:sldId xmlns:r="http://schemas.openxmlformats.org/officeDocument/2006/relationships" id="258" r:id="R08fd5459f4ef4b1c"/>
    <p:sldId xmlns:r="http://schemas.openxmlformats.org/officeDocument/2006/relationships" id="259" r:id="Rb9a1754189214dce"/>
    <p:sldId xmlns:r="http://schemas.openxmlformats.org/officeDocument/2006/relationships" id="260" r:id="R86f2f9ad7fc146b3"/>
    <p:sldId xmlns:r="http://schemas.openxmlformats.org/officeDocument/2006/relationships" id="261" r:id="Rede56906793543f2"/>
    <p:sldId xmlns:r="http://schemas.openxmlformats.org/officeDocument/2006/relationships" id="262" r:id="R88498b9a26a94215"/>
    <p:sldId xmlns:r="http://schemas.openxmlformats.org/officeDocument/2006/relationships" id="263" r:id="Rd751d044e19446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fa995b562a4619" /><Relationship Type="http://schemas.openxmlformats.org/officeDocument/2006/relationships/slideMaster" Target="/ppt/slideMasters/slideMaster1.xml" Id="Rc2730220cc004daf" /><Relationship Type="http://schemas.openxmlformats.org/officeDocument/2006/relationships/notesMaster" Target="/ppt/notesMasters/notesMaster1.xml" Id="R0a4df653bae344fa" /><Relationship Type="http://schemas.openxmlformats.org/officeDocument/2006/relationships/presProps" Target="/ppt/presProps.xml" Id="R4893e27d9ba94c6d" /><Relationship Type="http://schemas.openxmlformats.org/officeDocument/2006/relationships/tableStyles" Target="/ppt/tableStyles.xml" Id="Rea4201b2b7ac4e79" /><Relationship Type="http://schemas.openxmlformats.org/officeDocument/2006/relationships/slide" Target="/ppt/slides/slide1.xml" Id="Rb44365ad083d445f" /><Relationship Type="http://schemas.openxmlformats.org/officeDocument/2006/relationships/slide" Target="/ppt/slides/slide2.xml" Id="R6922a77885ee4fa6" /><Relationship Type="http://schemas.openxmlformats.org/officeDocument/2006/relationships/slide" Target="/ppt/slides/slide3.xml" Id="R08fd5459f4ef4b1c" /><Relationship Type="http://schemas.openxmlformats.org/officeDocument/2006/relationships/slide" Target="/ppt/slides/slide4.xml" Id="Rb9a1754189214dce" /><Relationship Type="http://schemas.openxmlformats.org/officeDocument/2006/relationships/slide" Target="/ppt/slides/slide5.xml" Id="R86f2f9ad7fc146b3" /><Relationship Type="http://schemas.openxmlformats.org/officeDocument/2006/relationships/slide" Target="/ppt/slides/slide6.xml" Id="Rede56906793543f2" /><Relationship Type="http://schemas.openxmlformats.org/officeDocument/2006/relationships/slide" Target="/ppt/slides/slide7.xml" Id="R88498b9a26a94215" /><Relationship Type="http://schemas.openxmlformats.org/officeDocument/2006/relationships/slide" Target="/ppt/slides/slide8.xml" Id="Rd751d044e19446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1bb080ad814e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659e0936c4181" /><Relationship Type="http://schemas.openxmlformats.org/officeDocument/2006/relationships/notesMaster" Target="/ppt/notesMasters/notesMaster1.xml" Id="R103a77e10a554b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4d7c4098ba4169" /><Relationship Type="http://schemas.openxmlformats.org/officeDocument/2006/relationships/notesMaster" Target="/ppt/notesMasters/notesMaster1.xml" Id="Rbfc57442560047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673282267a4d5e" /><Relationship Type="http://schemas.openxmlformats.org/officeDocument/2006/relationships/notesMaster" Target="/ppt/notesMasters/notesMaster1.xml" Id="R6885d680d5cc40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7827a8a403457b" /><Relationship Type="http://schemas.openxmlformats.org/officeDocument/2006/relationships/notesMaster" Target="/ppt/notesMasters/notesMaster1.xml" Id="R45a9d81bf0b045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2bdf1b981f442e" /><Relationship Type="http://schemas.openxmlformats.org/officeDocument/2006/relationships/notesMaster" Target="/ppt/notesMasters/notesMaster1.xml" Id="R6a6012f1bf6b48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0a7c3dee11481d" /><Relationship Type="http://schemas.openxmlformats.org/officeDocument/2006/relationships/notesMaster" Target="/ppt/notesMasters/notesMaster1.xml" Id="R43bd892010c545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0402815caa4369" /><Relationship Type="http://schemas.openxmlformats.org/officeDocument/2006/relationships/notesMaster" Target="/ppt/notesMasters/notesMaster1.xml" Id="R21d73a02001149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7da0a80e4d41df" /><Relationship Type="http://schemas.openxmlformats.org/officeDocument/2006/relationships/notesMaster" Target="/ppt/notesMasters/notesMaster1.xml" Id="R1c704fa080dd42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Identity selected by Kevin on 13 September 2026. Reference: goodai-studio/DESIGN.md and current homepage. Image is generated conceptual brand artwork, not a documented location. See assets/IMAGE-PROVENANCE.md.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 direction comes directly from founder feedback and the selected website. Brand promises describe intended value, not measured time savings. Never invent testimonials, client outcomes or certification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Wordmark derives from the current Manrope website lettering, 650 requested weight with -0.07em tracking. Outlined exports preserve the intended typography without requiring a font installation. Clear space and minimum sizes are practical production rules for this kit, not a trademark registration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values from DESIGN.md. Text contrast: dark olive on paper 10.61:1, rust on paper 5.63:1, muted text on paper 5.24:1. Dividers are not a text colour. Default composition uses mostly paper, olive type, then small rust accents.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 files and SIL Open Font License notices included in fonts/. Source roles verified in app/studio-fonts.css and app/globals.css. On a 1920x1080 canvas, start around 96–132 px for the main heading, 32–40 px for supporting text and 48–64 px for handwriting, then check at actual viewing 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Illustrations are the original SVG paths authored for ScrollStory.tsx, exported without changes. Web animation uses GSAP ScrollTrigger and stroke-dashoffset. In Canva use these as static assets or a simple reveal, rather than promising the website’s scroll behaviour inside a presentation. Reduced-motion website visitors see completed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destination is the existing SURVEY_URL in lib/links.ts. The retained ElevenLabs agent is agent_8501m0h2hvh0edr99jkqzr4rw53n. Loading the widget is not the same as validating a full call. Keep processing disclosure visible. Do not imply the sample workflows perform live operations.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Canva help: https://www.canva.com/en_au/help/upload-formats-requirements-variantb/ and https://www.canva.com/fr_be/help/import-files/ . Canva import and account-specific font availability have not been tested. Uploading fonts requires an eligible Canva plan. Keep included OFL notices. The supplied coastal image is generated conceptual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98a330f4742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ed739f85447b1" /><Relationship Type="http://schemas.openxmlformats.org/officeDocument/2006/relationships/slideLayout" Target="/ppt/slideLayouts/slideLayout1.xml" Id="R2f616cc8617842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616cc8617842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a7c40d8954b4e" /><Relationship Type="http://schemas.openxmlformats.org/officeDocument/2006/relationships/image" Target="/ppt/media/image.png" Id="R9e47ed8cd6ff460b" /><Relationship Type="http://schemas.openxmlformats.org/officeDocument/2006/relationships/image" Target="/ppt/media/image2.png" Id="R4198434613c143e1" /><Relationship Type="http://schemas.openxmlformats.org/officeDocument/2006/relationships/notesSlide" Target="/ppt/notesSlides/notesSlide1.xml" Id="R1bf9f04fcc4b44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c03284de442f7" /><Relationship Type="http://schemas.openxmlformats.org/officeDocument/2006/relationships/notesSlide" Target="/ppt/notesSlides/notesSlide2.xml" Id="R4ff03e7bd5f847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64a906ef949ce" /><Relationship Type="http://schemas.openxmlformats.org/officeDocument/2006/relationships/image" Target="/ppt/media/image3.png" Id="R7ca452bd5d55470a" /><Relationship Type="http://schemas.openxmlformats.org/officeDocument/2006/relationships/image" Target="/ppt/media/image4.png" Id="R9bed86c397eb4417" /><Relationship Type="http://schemas.openxmlformats.org/officeDocument/2006/relationships/notesSlide" Target="/ppt/notesSlides/notesSlide3.xml" Id="Radab786ac6f348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0b11a1f334693" /><Relationship Type="http://schemas.openxmlformats.org/officeDocument/2006/relationships/notesSlide" Target="/ppt/notesSlides/notesSlide4.xml" Id="Ra296bd1ee3a543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50500cfdc4cd5" /><Relationship Type="http://schemas.openxmlformats.org/officeDocument/2006/relationships/notesSlide" Target="/ppt/notesSlides/notesSlide5.xml" Id="Rb9d0b286f44b47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f75f1b16648d3" /><Relationship Type="http://schemas.openxmlformats.org/officeDocument/2006/relationships/image" Target="/ppt/media/image5.png" Id="Rafef244c25274783" /><Relationship Type="http://schemas.openxmlformats.org/officeDocument/2006/relationships/image" Target="/ppt/media/image6.png" Id="Rd6a943cfafe74942" /><Relationship Type="http://schemas.openxmlformats.org/officeDocument/2006/relationships/image" Target="/ppt/media/image7.png" Id="Rec6090f0829c49a8" /><Relationship Type="http://schemas.openxmlformats.org/officeDocument/2006/relationships/notesSlide" Target="/ppt/notesSlides/notesSlide6.xml" Id="R0f236716ca2c4b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75ac44ccd40b1" /><Relationship Type="http://schemas.openxmlformats.org/officeDocument/2006/relationships/notesSlide" Target="/ppt/notesSlides/notesSlide7.xml" Id="R8c83da7c58e446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f00274d4e4201" /><Relationship Type="http://schemas.openxmlformats.org/officeDocument/2006/relationships/notesSlide" Target="/ppt/notesSlides/notesSlide8.xml" Id="R95409502149e47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7ed8cd6ff460b"/>
          <a:stretch xmlns:a="http://schemas.openxmlformats.org/drawingml/2006/main"/>
        </p:blipFill>
        <p:spPr>
          <a:xfrm xmlns:a="http://schemas.openxmlformats.org/drawingml/2006/main">
            <a:off x="525399" y="419100"/>
            <a:ext cx="2435352" cy="6477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BDD3F-4B29-4EC6-8A3C-FBDC07FB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66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Good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1DDA1-2A8E-4A0E-B82E-D57131B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429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i="1">
                <a:solidFill>
                  <a:srgbClr val="A4432B"/>
                </a:solidFill>
                <a:latin typeface="Fraunces"/>
                <a:ea typeface="Fraunces"/>
                <a:cs typeface="Fraunces"/>
              </a:defRPr>
            </a:pPr>
            <a:r>
              <a:rPr sz="7050" i="1">
                <a:solidFill>
                  <a:srgbClr val="A4432B"/>
                </a:solidFill>
                <a:latin typeface="Fraunces"/>
                <a:ea typeface="Fraunces"/>
                <a:cs typeface="Fraunces"/>
              </a:rPr>
              <a:t>More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61D7A-906D-4577-B931-17674F51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195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Brand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8045D-379E-4E39-B84B-A7CE0717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35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September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8434613c143e1"/>
          <a:srcRect xmlns:a="http://schemas.openxmlformats.org/drawingml/2006/main" l="21204" t="0" r="212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0"/>
            <a:ext cx="59245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9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5B6D8-80F4-47EC-8A9F-0B797FB5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33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The feeling we leave people with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7C67E-4083-4CB3-965C-281F13B4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>
                <a:solidFill>
                  <a:srgbClr val="A4432B"/>
                </a:solidFill>
                <a:latin typeface="Vibes"/>
                <a:ea typeface="Vibes"/>
                <a:cs typeface="Vibes"/>
              </a:defRPr>
            </a:pPr>
            <a:r>
              <a:rPr sz="5550">
                <a:solidFill>
                  <a:srgbClr val="A4432B"/>
                </a:solidFill>
                <a:latin typeface="Vibes"/>
                <a:ea typeface="Vibes"/>
                <a:cs typeface="Vibes"/>
              </a:rPr>
              <a:t>Go on. Knock off early.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593D7-E2FB-42AF-B1A1-0FED209B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429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55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Good’Ai helps business owners get repetitive work out of the way, so they can get more of their day 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A44B7-1418-4844-873C-D20328E2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Reassuring, capable, plainspoken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64DF3-720A-4403-817E-0FA8CCDB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4905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65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Talk about missed calls, copied details and follow-ups. Say what the system does and where people stay in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CF5A0-0754-4514-8691-2A9107D4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91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Words to keep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B362E-F74A-4872-9A83-C5ADCA9D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14925"/>
            <a:ext cx="4524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18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“We’ll sort it.”</a:t>
            </a:r>
          </a:p>
          <a:p xmlns:a="http://schemas.openxmlformats.org/drawingml/2006/main">
            <a:pPr>
              <a:defRPr sz="18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18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“What’s eating your week?”</a:t>
            </a:r>
          </a:p>
          <a:p xmlns:a="http://schemas.openxmlformats.org/drawingml/2006/main">
            <a:pPr>
              <a:defRPr sz="18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18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“Let’s take work off your plate.”</a:t>
            </a:r>
          </a:p>
        </p:txBody>
      </p:sp>
    </p:spTree>
    <p:extLst>
      <p:ext uri="{BB962C8B-B14F-4D97-AF65-F5344CB8AC3E}">
        <p14:creationId xmlns:p14="http://schemas.microsoft.com/office/powerpoint/2010/main" val="573653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7BE3A-1F74-4B52-9DFF-F99082B9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33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The wordmark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452bd5d55470a"/>
          <a:stretch xmlns:a="http://schemas.openxmlformats.org/drawingml/2006/main"/>
        </p:blipFill>
        <p:spPr>
          <a:xfrm xmlns:a="http://schemas.openxmlformats.org/drawingml/2006/main">
            <a:off x="689610" y="1428750"/>
            <a:ext cx="6088380" cy="1619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7AAF6-1A05-474B-B611-00282AA4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362075"/>
            <a:ext cx="40005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B32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d86c397eb4417"/>
          <a:stretch xmlns:a="http://schemas.openxmlformats.org/drawingml/2006/main"/>
        </p:blipFill>
        <p:spPr>
          <a:xfrm xmlns:a="http://schemas.openxmlformats.org/drawingml/2006/main">
            <a:off x="7858125" y="1756957"/>
            <a:ext cx="3333750" cy="88663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D3B2A-6D02-4DED-9B5B-C2FBF9A6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Primary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785F2-2815-43D0-8348-2E3F6788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Dark olive lettering with rust punctuation.</a:t>
            </a:r>
          </a:p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Use the supplied outlined SVG or transparent PNG.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B23BE-059A-4450-A353-C00675F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670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Reversed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39900-EBD8-4672-A8F2-D9B7DECB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81425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Paper lettering on dark olive.</a:t>
            </a:r>
          </a:p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Use the single-colour version for small marks.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368E2-AAA7-41C4-969C-5A7FBFC2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195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Give the mark breathing 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BCE1F-2D6D-4625-A767-36111960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57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Leave at least half the capital G height on every side. Keep it at least 120 px wide digitally or 25 mm in print. Preserve its proportions.</a:t>
            </a:r>
          </a:p>
        </p:txBody>
      </p:sp>
    </p:spTree>
    <p:extLst>
      <p:ext uri="{BB962C8B-B14F-4D97-AF65-F5344CB8AC3E}">
        <p14:creationId xmlns:p14="http://schemas.microsoft.com/office/powerpoint/2010/main" val="355976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9B916-62FF-4E61-AB5C-D23F8CBA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33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Paper, ink and a little sunshine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001B1-3A4C-40C6-80AE-F16F5C85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6193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DB3C8-4DC5-468B-A2AB-D18E6BD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02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Paper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C8D57-641E-4B47-ADCD-DFC7B6D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#F7F5ED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A7F1D-8506-45DD-B4E0-B1862ECC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57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The everyday background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79C77-B25A-4BC7-9D3D-0AC1A0A4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04950"/>
            <a:ext cx="26193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B3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AEC6A-D61E-4524-829E-4625F31A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91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02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Dark olive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03BC3-54FD-47E5-A124-68420128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958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#333B32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4DE43-C3A8-4CFF-A6EA-BCC0D0F5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578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57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Headlines and body copy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17AEB-2D7A-46ED-B940-9C7D5283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26193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3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E93A3-FCF8-40E1-9A0D-B2271369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02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91838-35B8-48A5-A425-7E137491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958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#A4432B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A507C-3917-4351-BE4B-1B459DF7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57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Calls to action and emphasis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C4F20-420F-46E6-8758-091BADD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04950"/>
            <a:ext cx="26193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6F427-6056-4241-8350-114D0B4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91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02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8E797-3662-4980-B7E4-7A9D8C46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958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#DCE3CC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FD494-6135-4F11-90A5-D7B7F5BD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578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57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Quiet supporting surfaces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A22EA-CBC3-44A2-BCB1-F97847F8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4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Supporting text  #63685D       Dividers  #D5D6CA       Raised surface  #FFFEF9</a:t>
            </a:r>
          </a:p>
        </p:txBody>
      </p:sp>
    </p:spTree>
    <p:extLst>
      <p:ext uri="{BB962C8B-B14F-4D97-AF65-F5344CB8AC3E}">
        <p14:creationId xmlns:p14="http://schemas.microsoft.com/office/powerpoint/2010/main" val="1002319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36999-17C6-48D3-89FF-33EED4BB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33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Three voices, each with a job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D5F03-C26D-4E62-A864-33D2B4E0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45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Manrope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42CEF-27C0-4EB7-B6DB-2E2B3FEF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14475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02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The clear everyday voice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82F65-1CBE-46E3-94E2-CBD5AB0B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05025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65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Headings, body copy, buttons and prices.</a:t>
            </a:r>
          </a:p>
          <a:p xmlns:a="http://schemas.openxmlformats.org/drawingml/2006/main">
            <a:pPr>
              <a:defRPr sz="165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65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Regular for copy, Medium for headings,</a:t>
            </a:r>
          </a:p>
          <a:p xmlns:a="http://schemas.openxmlformats.org/drawingml/2006/main">
            <a:pPr>
              <a:defRPr sz="165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65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SemiBold for labels.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C916F-70B6-4F34-B8B3-2FE8BF31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i="1">
                <a:solidFill>
                  <a:srgbClr val="A4432B"/>
                </a:solidFill>
                <a:latin typeface="Fraunces"/>
                <a:ea typeface="Fraunces"/>
                <a:cs typeface="Fraunces"/>
              </a:defRPr>
            </a:pPr>
            <a:r>
              <a:rPr sz="5550" i="1">
                <a:solidFill>
                  <a:srgbClr val="A4432B"/>
                </a:solidFill>
                <a:latin typeface="Fraunces"/>
                <a:ea typeface="Fraunces"/>
                <a:cs typeface="Fraunces"/>
              </a:rPr>
              <a:t>More life.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EFDCB-9AA1-4914-BC8C-C9760AB5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9090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02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Fraunces Italic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213ED-446C-4502-AE84-8546B7F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243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65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A short expressive phrase in a headline.</a:t>
            </a:r>
          </a:p>
          <a:p xmlns:a="http://schemas.openxmlformats.org/drawingml/2006/main">
            <a:pPr>
              <a:defRPr sz="165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65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Keep the surrounding copy in Manrope.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6533E-F885-4B58-BDC0-6A0AF76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5619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>
                <a:solidFill>
                  <a:srgbClr val="A4432B"/>
                </a:solidFill>
                <a:latin typeface="Vibes"/>
                <a:ea typeface="Vibes"/>
                <a:cs typeface="Vibes"/>
              </a:defRPr>
            </a:pPr>
            <a:r>
              <a:rPr sz="4950">
                <a:solidFill>
                  <a:srgbClr val="A4432B"/>
                </a:solidFill>
                <a:latin typeface="Vibes"/>
                <a:ea typeface="Vibes"/>
                <a:cs typeface="Vibes"/>
              </a:rPr>
              <a:t>We’ll sort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54C9F-91F7-4FAA-8BE5-A61F8A0C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625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02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Vibes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76B0F-EF5A-4909-9A6A-F75BA6F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7690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65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Brief handwritten reassurance.</a:t>
            </a:r>
          </a:p>
          <a:p xmlns:a="http://schemas.openxmlformats.org/drawingml/2006/main">
            <a:pPr>
              <a:defRPr sz="165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65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Keep instructions and small text in Manrope.</a:t>
            </a:r>
          </a:p>
        </p:txBody>
      </p:sp>
    </p:spTree>
    <p:extLst>
      <p:ext uri="{BB962C8B-B14F-4D97-AF65-F5344CB8AC3E}">
        <p14:creationId xmlns:p14="http://schemas.microsoft.com/office/powerpoint/2010/main" val="39856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F463F-FBBA-48C6-9C48-FCB47F7A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33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Draw the work out of the way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f244c25274783"/>
          <a:stretch xmlns:a="http://schemas.openxmlformats.org/drawingml/2006/main"/>
        </p:blipFill>
        <p:spPr>
          <a:xfrm xmlns:a="http://schemas.openxmlformats.org/drawingml/2006/main">
            <a:off x="428625" y="1522048"/>
            <a:ext cx="3714750" cy="291855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967D0-4DEF-461A-A4AE-0E078F88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1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The work piles up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943cfafe74942"/>
          <a:stretch xmlns:a="http://schemas.openxmlformats.org/drawingml/2006/main"/>
        </p:blipFill>
        <p:spPr>
          <a:xfrm xmlns:a="http://schemas.openxmlformats.org/drawingml/2006/main">
            <a:off x="4333875" y="1522048"/>
            <a:ext cx="3714750" cy="291855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75426-4455-4485-9478-A1FB0D29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1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The pieces connect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090f0829c49a8"/>
          <a:stretch xmlns:a="http://schemas.openxmlformats.org/drawingml/2006/main"/>
        </p:blipFill>
        <p:spPr>
          <a:xfrm xmlns:a="http://schemas.openxmlformats.org/drawingml/2006/main">
            <a:off x="8239125" y="1522048"/>
            <a:ext cx="3714750" cy="291855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4652B-0AD0-48EA-8FC6-A039688A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05350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1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The afternoon is yours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DB4AE-83FB-4D6D-AF37-6EC11A6E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87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Loose olive linework, a few rust accents and plenty of paper. Drawings follow the meaning of the copy.</a:t>
            </a:r>
          </a:p>
        </p:txBody>
      </p:sp>
    </p:spTree>
    <p:extLst>
      <p:ext uri="{BB962C8B-B14F-4D97-AF65-F5344CB8AC3E}">
        <p14:creationId xmlns:p14="http://schemas.microsoft.com/office/powerpoint/2010/main" val="446321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399DB-DC19-4477-8F14-9BAFA836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33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A clear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65A79-2EBD-4DEA-B8F7-93C5036B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487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Let’s take work</a:t>
            </a:r>
          </a:p>
          <a:p xmlns:a="http://schemas.openxmlformats.org/drawingml/2006/main">
            <a:pPr>
              <a:defRPr sz="487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487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off your plate.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77BF7-4EC7-43E7-8DDF-1B387A62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Primary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AF69-72FF-42C1-803D-2268A82F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76475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Use rust with paper text.</a:t>
            </a:r>
          </a:p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Ask for one useful next step.</a:t>
            </a:r>
          </a:p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Link to the shared business enquiry 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97493-90EB-4A43-80C7-778BFA87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A4432B"/>
                </a:solidFill>
                <a:latin typeface="Manrope"/>
                <a:ea typeface="Manrope"/>
                <a:cs typeface="Manrope"/>
              </a:defRPr>
            </a:pPr>
            <a:r>
              <a:rPr sz="3225">
                <a:solidFill>
                  <a:srgbClr val="A4432B"/>
                </a:solidFill>
                <a:latin typeface="Manrope"/>
                <a:ea typeface="Manrope"/>
                <a:cs typeface="Manrope"/>
              </a:rPr>
              <a:t>Try the voice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54867-22A0-447C-A84B-857FED24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0025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Experience the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C6E84-499F-4EB5-9CBE-C1509F36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725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Keep the demo visible, with the enquiry action close by. Let visitors choose when to start a call.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A73CB-BE3E-41E9-8244-15821249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210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Short supporting line: “Want one for your business?”</a:t>
            </a:r>
          </a:p>
        </p:txBody>
      </p:sp>
    </p:spTree>
    <p:extLst>
      <p:ext uri="{BB962C8B-B14F-4D97-AF65-F5344CB8AC3E}">
        <p14:creationId xmlns:p14="http://schemas.microsoft.com/office/powerpoint/2010/main" val="1333573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F87DB-979E-4E0E-9287-9F899E6B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3300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Your Canva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4F9FA-45B2-470B-98AD-35BC79E5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17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01  Fonts and logos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55B1E-193E-44D5-A9CC-FE26C4B9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80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Add the included fonts to your Brand Kit where your plan allows. Upload the logo SVGs or PNGs. The outlined logos work without font substitution.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D0601-DD37-4D78-9B7C-C423B95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28750"/>
            <a:ext cx="4619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17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02  Colours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6BEEA-2379-4D84-B610-85AFCAC8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76450"/>
            <a:ext cx="4429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80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Add the four main HEX values from this guide. Use paper as the default page background and rust for the action you want people to take.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F6043-35E1-40B2-A1D3-518861F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17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03  The editable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63B9C-6A89-489B-AB5A-80B79FE5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80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Import GoodAi-Brand-Guide.pptx into Canva. Check the text, line breaks and font choices after import. The PDF is a visual reference.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B745E-0711-4306-A3A6-394C6429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433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B32"/>
                </a:solidFill>
                <a:latin typeface="Manrope"/>
                <a:ea typeface="Manrope"/>
                <a:cs typeface="Manrope"/>
              </a:defRPr>
            </a:pPr>
            <a:r>
              <a:rPr sz="2175">
                <a:solidFill>
                  <a:srgbClr val="333B32"/>
                </a:solidFill>
                <a:latin typeface="Manrope"/>
                <a:ea typeface="Manrope"/>
                <a:cs typeface="Manrope"/>
              </a:rPr>
              <a:t>04  Images and 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5B617-2FA1-4542-BB5E-626F4064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91050"/>
            <a:ext cx="4429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3685D"/>
                </a:solidFill>
                <a:latin typeface="Manrope"/>
                <a:ea typeface="Manrope"/>
                <a:cs typeface="Manrope"/>
              </a:defRPr>
            </a:pPr>
            <a:r>
              <a:rPr sz="1800">
                <a:solidFill>
                  <a:srgbClr val="63685D"/>
                </a:solidFill>
                <a:latin typeface="Manrope"/>
                <a:ea typeface="Manrope"/>
                <a:cs typeface="Manrope"/>
              </a:rPr>
              <a:t>Use warm natural light, ordinary objects and room to breathe. Add real founder and workflow photography as it becomes available.</a:t>
            </a:r>
          </a:p>
        </p:txBody>
      </p:sp>
    </p:spTree>
    <p:extLst>
      <p:ext uri="{BB962C8B-B14F-4D97-AF65-F5344CB8AC3E}">
        <p14:creationId xmlns:p14="http://schemas.microsoft.com/office/powerpoint/2010/main" val="184377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2026-09-13T05:57:51.7700000Z</dcterms:created>
  <dcterms:modified xsi:type="dcterms:W3CDTF">2026-09-13T05:57:51.7700000Z</dcterms:modified>
</coreProperties>
</file>